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TCGA Multimodal Cancer Risk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2A4"/>
                </a:solidFill>
              </a:defRPr>
            </a:pPr>
            <a:r>
              <a:t>Predicting patient risk from histopathology images, pathology reports, and clinical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840480"/>
            <a:ext cx="182880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</a:defRPr>
            </a:pPr>
            <a:r>
              <a:t>6,242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4"/>
                </a:solidFill>
              </a:defRPr>
            </a:pPr>
            <a:r>
              <a:t>Patients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840480"/>
            <a:ext cx="182880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3931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</a:defRPr>
            </a:pPr>
            <a: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4"/>
                </a:solidFill>
              </a:defRPr>
            </a:pPr>
            <a:r>
              <a:t>Cancer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840480"/>
            <a:ext cx="182880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4"/>
                </a:solidFill>
              </a:defRPr>
            </a:pPr>
            <a:r>
              <a:t>Data Modalities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840480"/>
            <a:ext cx="1828800" cy="128016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931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</a:defRPr>
            </a:pPr>
            <a:r>
              <a:t>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4"/>
                </a:solidFill>
              </a:defRPr>
            </a:pPr>
            <a: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2A4"/>
                </a:solidFill>
              </a:defRPr>
            </a:pPr>
            <a:r>
              <a:t>Devang Pratap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Cancer risk stratification relies on fragmented data across siloed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91840" cy="2926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Histopathology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271K tissue patches across 7,175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Visual patterns indicate tumor aggressiveness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Too many patches per patient for direct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Need intelligent aggregation, not averaging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291840" cy="2926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</a:defRPr>
            </a:pPr>
            <a:r>
              <a:t>Pathology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9,523 free-text clinical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OCR'd, noisy, unstructured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Rich clinical signal buried in prose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No standard format across institutions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286000"/>
            <a:ext cx="3291840" cy="2926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EF7D"/>
                </a:solidFill>
              </a:defRPr>
            </a:pPr>
            <a:r>
              <a:t>Clinical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11,160 patient outcomes from GDC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Survival time, staging, demographics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Missing values and sentinel placeholders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Needs careful handling to avoid leakage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2A4"/>
                </a:solidFill>
              </a:defRPr>
            </a:pPr>
            <a:r>
              <a:t>No existing system fuses all three modalities into a single risk prediction per patient.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Medallion architecture on Databricks with Delta Lake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92024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892A4"/>
                </a:solidFill>
              </a:defRPr>
            </a:pPr>
            <a:r>
              <a:t>Raw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</a:defRPr>
            </a:pPr>
            <a:r>
              <a:t>3 modalities</a:t>
            </a:r>
            <a:br/>
            <a:r>
              <a:t>HuggingFace, Mendeley, GDC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92A4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011680"/>
            <a:ext cx="192024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D7F32"/>
                </a:solidFill>
              </a:defRPr>
            </a:pPr>
            <a: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</a:defRPr>
            </a:pPr>
            <a:r>
              <a:t>Raw Delta tables</a:t>
            </a:r>
            <a:br/>
            <a:r>
              <a:t>Untouched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92A4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011680"/>
            <a:ext cx="192024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C0C0"/>
                </a:solidFill>
              </a:defRPr>
            </a:pPr>
            <a:r>
              <a:t>Silver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</a:defRPr>
            </a:pPr>
            <a:r>
              <a:t>Cleaned &amp; joined</a:t>
            </a:r>
            <a:br/>
            <a:r>
              <a:t>6,242 patients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92A4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2011680"/>
            <a:ext cx="192024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9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</a:defRPr>
            </a:pPr>
            <a:r>
              <a:t>Gold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</a:defRPr>
            </a:pPr>
            <a:r>
              <a:t>Feature matrix</a:t>
            </a:r>
            <a:br/>
            <a:r>
              <a:t>101 features, zero nulls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51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92A4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2011680"/>
            <a:ext cx="192024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</a:defRPr>
            </a:pPr>
            <a: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</a:defRPr>
            </a:pPr>
            <a:r>
              <a:t>Late fusion</a:t>
            </a:r>
            <a:br/>
            <a:r>
              <a:t>3 classifiers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50292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97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Tech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Databricks — serverless compute, Unity Catalog, Delta Lake, Workflows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66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Python — PySpark, pandas, scikit-learn, PyTorch, LightGBM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32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Google Colab — ResNet-18 extraction + ABMIL training on T4 GPU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897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Streamlit — interactive patient risk explorer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14800"/>
            <a:ext cx="5029200" cy="2011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297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Data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8006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Inner join on TCGA patient barcode across all 3 sources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166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Cancer type mapping table (31 types, COAD+READ merged)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532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Sentinel value handling ([Not Available], [Not Applicable])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8978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Data quality tracking: null rates and join coverage per cancer 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IMAGE FEATURE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Gated Attention MIL — learning which patches matter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16C"/>
                </a:solidFill>
              </a:defRPr>
            </a:pPr>
            <a:r>
              <a:t>Why Not Mean Pooling?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Each patient has 20-200 tissue patches at 256x256px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Most patches show benign tissue, few show tumor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Mean pooling dilutes the signal — tumor info washed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Gated Attention MIL learns per-patch importance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Tumor patches get high attention, benign gets 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Result: 512-dim vector dominated by informative 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23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Trained on T4 GPU in Google Colab (45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9893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ResNet-18 backbone, classification head removed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50292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ResNet-18 → 512-dim patch embedding per tile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63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29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Gated Attention mechanism: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947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  V = tanh(W_V · h)      — value transform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60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  U = sigmoid(W_U · h)   — gate transform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  a = softmax(w · (V ⊙ U)) — attention weights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920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257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Attention-pooled vector = Σ(aᵢ · hᵢ)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6235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9893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PCA: 512 → 50 dims (noise reduction for 4K samples)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6355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Exported as CSV, joined into gold feature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101 features from 3 modalities, zero nulls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Image (50 features)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ABMIL attention-pooled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512-dim → PCA to 50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Variance retained: ~85%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Captures tumor morphology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29184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</a:defRPr>
            </a:pPr>
            <a:r>
              <a:t>Text (30 features)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TF-IDF on pathology report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200 features → PCA to 30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Sublinear TF, min_df=2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Captures diagnostic language patterns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291840" cy="2286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EF7D"/>
                </a:solidFill>
              </a:defRPr>
            </a:pPr>
            <a:r>
              <a:t>Clinical (21 features)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Age (median imputed, scaled)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Gender (one-hot)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AJCC stage (simplified, one-hot)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Cancer type (top-10, one-hot)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10515600" cy="1645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7548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16C"/>
                </a:solidFill>
              </a:defRPr>
            </a:pPr>
            <a:r>
              <a:t>Risk Label Derivation — Tertile 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578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Per cancer type: compute p33 and p67 of OS among deceased patients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235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High risk = died below p33 (fast progression)  |  Low risk = OS above p67 (long survivors)  |  Ambiguous middle third dropped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893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No survival time leakage — os_days excluded from features, used only for label derivation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Honest metrics — no leakage, no test contamination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Global Models (all cancer types)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606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Balanced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EF7D"/>
                </a:solidFill>
              </a:defRPr>
            </a:pPr>
            <a: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8EF7D"/>
                </a:solidFill>
              </a:defRPr>
            </a:pPr>
            <a:r>
              <a:t>71.0%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8EF7D"/>
                </a:solidFill>
              </a:defRPr>
            </a:pPr>
            <a:r>
              <a:t>69.5%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</a:defRPr>
            </a:pPr>
            <a:r>
              <a:t>MLP (3-layer PyTorch)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429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</a:defRPr>
            </a:pPr>
            <a:r>
              <a:t>72.5%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429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</a:defRPr>
            </a:pPr>
            <a:r>
              <a:t>65.1%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</a:defRPr>
            </a:pPr>
            <a:r>
              <a:t>LightGBM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</a:defRPr>
            </a:pPr>
            <a:r>
              <a:t>79.6%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</a:defRPr>
            </a:pPr>
            <a:r>
              <a:t>58.7%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50292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Per-Cancer-Type Models (LightGBM)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06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Cancer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606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Balanced Acc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EF7D"/>
                </a:solidFill>
              </a:defRPr>
            </a:pPr>
            <a:r>
              <a:t>GBM (Glioblastoma)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8EF7D"/>
                </a:solidFill>
              </a:defRPr>
            </a:pPr>
            <a:r>
              <a:t>74.1%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017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8EF7D"/>
                </a:solidFill>
              </a:defRPr>
            </a:pPr>
            <a:r>
              <a:t>72.5%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EF7D"/>
                </a:solidFill>
              </a:defRPr>
            </a:pPr>
            <a:r>
              <a:t>LUSC (Lung Squamous)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429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8EF7D"/>
                </a:solidFill>
              </a:defRPr>
            </a:pPr>
            <a:r>
              <a:t>77.5%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429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8EF7D"/>
                </a:solidFill>
              </a:defRPr>
            </a:pPr>
            <a:r>
              <a:t>67.6%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</a:defRPr>
            </a:pPr>
            <a:r>
              <a:t>KIRC (Kidney Clear Cell)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</a:defRPr>
            </a:pPr>
            <a:r>
              <a:t>80.9%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</a:defRPr>
            </a:pPr>
            <a:r>
              <a:t>63.6%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251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</a:defRPr>
            </a:pPr>
            <a:r>
              <a:t>HNSC (Head &amp; Neck)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</a:defRPr>
            </a:pPr>
            <a:r>
              <a:t>73.2%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4251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</a:defRPr>
            </a:pPr>
            <a:r>
              <a:t>58.5%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029200"/>
            <a:ext cx="10515600" cy="11887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Key Insight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GBM-specific model hits 72.5% balanced accuracy — best in pipeline. Cancer-specific models outperform global models when class balance is reasonable. Balanced accuracy is the primary metric because class imbalance makes raw accuracy misleading.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LIVE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Interactive patient risk explorer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3657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Streamlit App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Patient Explorer — search any patient, see risk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  and feature radar chart across all modalities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Cohort Analytics — survival distributions, 3D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  scatter, model performance heatmap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Pipeline View — medallion architecture, feature composition,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  multimodal fusion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Filter by cancer type, interactive Plotly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Dark theme, responsive layout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11680"/>
            <a:ext cx="5029200" cy="3657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EF7D"/>
                </a:solidFill>
              </a:defRPr>
            </a:pPr>
            <a:r>
              <a:t>Technical Rigor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No data leakage — os_days excluded from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Tertile labels from deceased patients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29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Stratified train/test splits throughout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947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PCA dimensionality reduction for small sample regime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Weighted loss functions for class imbalance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Per-cancer-type models for heterogeneous diseases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920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Full pipeline automated via Databricks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257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</a:defRPr>
            </a:pPr>
            <a:r>
              <a:t>• All code open source on 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2A4"/>
                </a:solidFill>
              </a:defRPr>
            </a:pPr>
            <a:r>
              <a:t>github.com/devangpratap/tcga-risk-pipeline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